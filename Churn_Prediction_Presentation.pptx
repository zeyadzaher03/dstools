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1097280"/>
            <a:ext cx="4572000" cy="4572000"/>
          </a:xfrm>
          <a:prstGeom prst="ellipse">
            <a:avLst/>
          </a:prstGeom>
          <a:solidFill>
            <a:srgbClr val="1B2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4114800"/>
            <a:ext cx="3657600" cy="3657600"/>
          </a:xfrm>
          <a:prstGeom prst="ellipse">
            <a:avLst/>
          </a:prstGeom>
          <a:solidFill>
            <a:srgbClr val="1B2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28E2B"/>
                </a:solidFill>
                <a:latin typeface="Calibri"/>
              </a:defRPr>
            </a:pPr>
            <a:r>
              <a:t>DS TOOLS · FINAL PROJECT ·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FFFFF"/>
                </a:solidFill>
                <a:latin typeface="Calibri"/>
              </a:defRPr>
            </a:pPr>
            <a:r>
              <a:t>E-Commerce Customer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28E2B"/>
                </a:solidFill>
                <a:latin typeface="Calibri"/>
              </a:defRPr>
            </a:pPr>
            <a:r>
              <a:t>Churn 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CCCCC"/>
                </a:solidFill>
                <a:latin typeface="Calibri"/>
              </a:defRPr>
            </a:pPr>
            <a:r>
              <a:t>Uncovering patterns, building models, driving retention decisions with SAS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434840"/>
            <a:ext cx="1371600" cy="54864"/>
          </a:xfrm>
          <a:prstGeom prst="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617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Faculty of Computers and Data Science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349240"/>
            <a:ext cx="2514600" cy="960120"/>
          </a:xfrm>
          <a:prstGeom prst="roundRect">
            <a:avLst/>
          </a:prstGeom>
          <a:solidFill>
            <a:srgbClr val="1B2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CCCCCC"/>
                </a:solidFill>
                <a:latin typeface="Calibri"/>
              </a:defRPr>
            </a:pPr>
            <a:r>
              <a:t>6,200</a:t>
            </a:r>
            <a:br/>
            <a:r>
              <a:t>ROWS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5349240"/>
            <a:ext cx="2514600" cy="960120"/>
          </a:xfrm>
          <a:prstGeom prst="roundRect">
            <a:avLst/>
          </a:prstGeom>
          <a:solidFill>
            <a:srgbClr val="1B2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CCCCCC"/>
                </a:solidFill>
                <a:latin typeface="Calibri"/>
              </a:defRPr>
            </a:pPr>
            <a:r>
              <a:t>21 + 8 engineered</a:t>
            </a:r>
            <a:br/>
            <a:r>
              <a:t>FEATURES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5349240"/>
            <a:ext cx="2514600" cy="960120"/>
          </a:xfrm>
          <a:prstGeom prst="roundRect">
            <a:avLst/>
          </a:prstGeom>
          <a:solidFill>
            <a:srgbClr val="1B2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CCCCCC"/>
                </a:solidFill>
                <a:latin typeface="Calibri"/>
              </a:defRPr>
            </a:pPr>
            <a:r>
              <a:t>Logistic + Tree</a:t>
            </a:r>
            <a:br/>
            <a:r>
              <a:t>MODELS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560" y="5349240"/>
            <a:ext cx="2514600" cy="960120"/>
          </a:xfrm>
          <a:prstGeom prst="roundRect">
            <a:avLst/>
          </a:prstGeom>
          <a:solidFill>
            <a:srgbClr val="1B2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CCCCCC"/>
                </a:solidFill>
                <a:latin typeface="Calibri"/>
              </a:defRPr>
            </a:pPr>
            <a:r>
              <a:t>16+ charts</a:t>
            </a:r>
            <a:br/>
            <a:r>
              <a:t>VISUALS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28E2B"/>
                </a:solidFill>
                <a:latin typeface="Calibri"/>
              </a:defRPr>
            </a:pPr>
            <a:r>
              <a:t>MEET THE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Team Members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371600" cy="54864"/>
          </a:xfrm>
          <a:prstGeom prst="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Five contributors · Faculty of Computers and Data Science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834640"/>
            <a:ext cx="3611880" cy="1463040"/>
          </a:xfrm>
          <a:prstGeom prst="roundRect">
            <a:avLst/>
          </a:prstGeom>
          <a:solidFill>
            <a:srgbClr val="1B2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834640"/>
            <a:ext cx="164592" cy="1463040"/>
          </a:xfrm>
          <a:prstGeom prst="rect">
            <a:avLst/>
          </a:prstGeom>
          <a:solidFill>
            <a:srgbClr val="4C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9718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FFFF"/>
                </a:solidFill>
                <a:latin typeface="Arial"/>
              </a:defRPr>
            </a:pPr>
            <a:r>
              <a:t>يوسف محمود مصطفى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6118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28E2B"/>
                </a:solidFill>
                <a:latin typeface="Calibri"/>
              </a:defRPr>
            </a:pPr>
            <a:r>
              <a:t>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840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onsolas"/>
              </a:defRPr>
            </a:pPr>
            <a:r>
              <a:t>23011657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834640"/>
            <a:ext cx="3611880" cy="1463040"/>
          </a:xfrm>
          <a:prstGeom prst="roundRect">
            <a:avLst/>
          </a:prstGeom>
          <a:solidFill>
            <a:srgbClr val="1B2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834640"/>
            <a:ext cx="164592" cy="1463040"/>
          </a:xfrm>
          <a:prstGeom prst="rect">
            <a:avLst/>
          </a:prstGeom>
          <a:solidFill>
            <a:srgbClr val="59A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9718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FFFF"/>
                </a:solidFill>
                <a:latin typeface="Arial"/>
              </a:defRPr>
            </a:pPr>
            <a:r>
              <a:t>صالح كامل عوض كامل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6118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28E2B"/>
                </a:solidFill>
                <a:latin typeface="Calibri"/>
              </a:defRPr>
            </a:pPr>
            <a:r>
              <a:t>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840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onsolas"/>
              </a:defRPr>
            </a:pPr>
            <a:r>
              <a:t>22010122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2834640"/>
            <a:ext cx="3611880" cy="1463040"/>
          </a:xfrm>
          <a:prstGeom prst="roundRect">
            <a:avLst/>
          </a:prstGeom>
          <a:solidFill>
            <a:srgbClr val="1B2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2834640"/>
            <a:ext cx="164592" cy="1463040"/>
          </a:xfrm>
          <a:prstGeom prst="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29718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FFFF"/>
                </a:solidFill>
                <a:latin typeface="Arial"/>
              </a:defRPr>
            </a:pPr>
            <a:r>
              <a:t>احمد مجدي احمد النجار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6118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28E2B"/>
                </a:solidFill>
                <a:latin typeface="Calibri"/>
              </a:defRPr>
            </a:pPr>
            <a:r>
              <a:t>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3840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onsolas"/>
              </a:defRPr>
            </a:pPr>
            <a:r>
              <a:t>2401241821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468880" y="4526280"/>
            <a:ext cx="3611880" cy="1463040"/>
          </a:xfrm>
          <a:prstGeom prst="roundRect">
            <a:avLst/>
          </a:prstGeom>
          <a:solidFill>
            <a:srgbClr val="1B2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68880" y="4526280"/>
            <a:ext cx="164592" cy="1463040"/>
          </a:xfrm>
          <a:prstGeom prst="rect">
            <a:avLst/>
          </a:prstGeom>
          <a:solidFill>
            <a:srgbClr val="E15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466344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FFFF"/>
                </a:solidFill>
                <a:latin typeface="Arial"/>
              </a:defRPr>
            </a:pPr>
            <a:r>
              <a:t>زياد مصطفي عيد داود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53035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28E2B"/>
                </a:solidFill>
                <a:latin typeface="Calibri"/>
              </a:defRPr>
            </a:pPr>
            <a:r>
              <a:t>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8920" y="55321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onsolas"/>
              </a:defRPr>
            </a:pPr>
            <a:r>
              <a:t>22010105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4526280"/>
            <a:ext cx="3611880" cy="1463040"/>
          </a:xfrm>
          <a:prstGeom prst="roundRect">
            <a:avLst/>
          </a:prstGeom>
          <a:solidFill>
            <a:srgbClr val="1B2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63640" y="4526280"/>
            <a:ext cx="164592" cy="1463040"/>
          </a:xfrm>
          <a:prstGeom prst="rect">
            <a:avLst/>
          </a:prstGeom>
          <a:solidFill>
            <a:srgbClr val="76B7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466344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FFFFF"/>
                </a:solidFill>
                <a:latin typeface="Arial"/>
              </a:defRPr>
            </a:pPr>
            <a:r>
              <a:t>زياد محمد عبدالمنعم محمد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3035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28E2B"/>
                </a:solidFill>
                <a:latin typeface="Calibri"/>
              </a:defRPr>
            </a:pPr>
            <a:r>
              <a:t>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5321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onsolas"/>
              </a:defRPr>
            </a:pPr>
            <a:r>
              <a:t>20221445711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E-Commerce Customer Churn Prediction · DS Tools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6537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CCCCCC"/>
                </a:solidFill>
                <a:latin typeface="Calibri"/>
              </a:defRPr>
            </a:pPr>
            <a: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28E2B"/>
                </a:solidFill>
                <a:latin typeface="Calibri"/>
              </a:defRPr>
            </a:pPr>
            <a:r>
              <a:t>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736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0" cy="54864"/>
          </a:xfrm>
          <a:prstGeom prst="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640080" cy="640080"/>
          </a:xfrm>
          <a:prstGeom prst="roundRect">
            <a:avLst/>
          </a:prstGeom>
          <a:solidFill>
            <a:srgbClr val="4C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4630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2D2D"/>
                </a:solidFill>
                <a:latin typeface="Calibri"/>
              </a:defRPr>
            </a:pPr>
            <a:r>
              <a:t>Problem Definition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82880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Calibri"/>
              </a:defRPr>
            </a:pPr>
            <a:r>
              <a:t>Why churn prediction matters for e-commerce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63040"/>
            <a:ext cx="640080" cy="640080"/>
          </a:xfrm>
          <a:prstGeom prst="roundRect">
            <a:avLst/>
          </a:prstGeom>
          <a:solidFill>
            <a:srgbClr val="4C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14630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2D2D"/>
                </a:solidFill>
                <a:latin typeface="Calibri"/>
              </a:defRPr>
            </a:pPr>
            <a:r>
              <a:t>Data Understanding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182880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Calibri"/>
              </a:defRPr>
            </a:pPr>
            <a:r>
              <a:t>6,200 customers, 21 features, real-world complexity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51760"/>
            <a:ext cx="640080" cy="640080"/>
          </a:xfrm>
          <a:prstGeom prst="roundRect">
            <a:avLst/>
          </a:prstGeom>
          <a:solidFill>
            <a:srgbClr val="59A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6517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2D2D"/>
                </a:solidFill>
                <a:latin typeface="Calibri"/>
              </a:defRPr>
            </a:pPr>
            <a:r>
              <a:t>Data Investigation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0175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Calibri"/>
              </a:defRPr>
            </a:pPr>
            <a:r>
              <a:t>Statistical exploration, distributions, correlations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2651760"/>
            <a:ext cx="640080" cy="640080"/>
          </a:xfrm>
          <a:prstGeom prst="roundRect">
            <a:avLst/>
          </a:prstGeom>
          <a:solidFill>
            <a:srgbClr val="59A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26517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2D2D"/>
                </a:solidFill>
                <a:latin typeface="Calibri"/>
              </a:defRPr>
            </a:pPr>
            <a:r>
              <a:t>Data Cleaning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30175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Calibri"/>
              </a:defRPr>
            </a:pPr>
            <a:r>
              <a:t>Missing values, outliers, inconsistencies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840480"/>
            <a:ext cx="640080" cy="640080"/>
          </a:xfrm>
          <a:prstGeom prst="round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8404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2D2D"/>
                </a:solidFill>
                <a:latin typeface="Calibri"/>
              </a:defRPr>
            </a:pPr>
            <a:r>
              <a:t>Feature Engineering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2062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Calibri"/>
              </a:defRPr>
            </a:pPr>
            <a:r>
              <a:t>8 new features capturing behavioral patterns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3840480"/>
            <a:ext cx="640080" cy="640080"/>
          </a:xfrm>
          <a:prstGeom prst="round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38404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2D2D"/>
                </a:solidFill>
                <a:latin typeface="Calibri"/>
              </a:defRPr>
            </a:pPr>
            <a:r>
              <a:t>Model Building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42062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Calibri"/>
              </a:defRPr>
            </a:pPr>
            <a:r>
              <a:t>Logistic Regression + Decision Tree comparison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029200"/>
            <a:ext cx="640080" cy="640080"/>
          </a:xfrm>
          <a:prstGeom prst="roundRect">
            <a:avLst/>
          </a:prstGeom>
          <a:solidFill>
            <a:srgbClr val="E15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2D2D"/>
                </a:solidFill>
                <a:latin typeface="Calibri"/>
              </a:defRPr>
            </a:pPr>
            <a:r>
              <a:t>Model Explanation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539496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Calibri"/>
              </a:defRPr>
            </a:pPr>
            <a:r>
              <a:t>Odds ratios, feature importance, calibration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5029200"/>
            <a:ext cx="640080" cy="640080"/>
          </a:xfrm>
          <a:prstGeom prst="roundRect">
            <a:avLst/>
          </a:prstGeom>
          <a:solidFill>
            <a:srgbClr val="E15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50292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2D2D"/>
                </a:solidFill>
                <a:latin typeface="Calibri"/>
              </a:defRPr>
            </a:pPr>
            <a:r>
              <a:t>Business Application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539496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Calibri"/>
              </a:defRPr>
            </a:pPr>
            <a:r>
              <a:t>Risk tiers, revenue impact, retention ROI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E-Commerce Customer Churn Prediction · DS Tools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6537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28E2B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736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"/>
              </a:defRPr>
            </a:pPr>
            <a:r>
              <a:t>Problem Definition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0" cy="54864"/>
          </a:xfrm>
          <a:prstGeom prst="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C78A8"/>
                </a:solidFill>
                <a:latin typeface="Calibri"/>
              </a:defRPr>
            </a:pPr>
            <a:r>
              <a:t>Why does customer churn matter?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6858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D2D2D"/>
                </a:solidFill>
                <a:latin typeface="Calibri"/>
              </a:defRPr>
            </a:pPr>
            <a:r>
              <a:t>Acquiring a new customer costs 5-7x more than retaining one</a:t>
            </a:r>
          </a:p>
          <a:p>
            <a:pPr>
              <a:spcAft>
                <a:spcPts val="600"/>
              </a:spcAft>
              <a:defRPr sz="1700">
                <a:solidFill>
                  <a:srgbClr val="2D2D2D"/>
                </a:solidFill>
                <a:latin typeface="Calibri"/>
              </a:defRPr>
            </a:pPr>
            <a:r>
              <a:t>30.5% of our customers churned — significant revenue at risk</a:t>
            </a:r>
          </a:p>
          <a:p>
            <a:pPr>
              <a:spcAft>
                <a:spcPts val="600"/>
              </a:spcAft>
              <a:defRPr sz="1700">
                <a:solidFill>
                  <a:srgbClr val="2D2D2D"/>
                </a:solidFill>
                <a:latin typeface="Calibri"/>
              </a:defRPr>
            </a:pPr>
            <a:r>
              <a:t>Without prediction, retention efforts are reactive and wasteful</a:t>
            </a:r>
          </a:p>
          <a:p>
            <a:pPr>
              <a:spcAft>
                <a:spcPts val="600"/>
              </a:spcAft>
              <a:defRPr sz="1700">
                <a:solidFill>
                  <a:srgbClr val="2D2D2D"/>
                </a:solidFill>
                <a:latin typeface="Calibri"/>
              </a:defRPr>
            </a:pPr>
            <a:r>
              <a:t>Goal: Predict churn probability for every customer, enabling</a:t>
            </a:r>
          </a:p>
          <a:p>
            <a:pPr>
              <a:spcAft>
                <a:spcPts val="600"/>
              </a:spcAft>
              <a:defRPr sz="1700">
                <a:solidFill>
                  <a:srgbClr val="2D2D2D"/>
                </a:solidFill>
                <a:latin typeface="Calibri"/>
              </a:defRPr>
            </a:pPr>
            <a:r>
              <a:t>   proactive, targeted retention campaigns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371600"/>
            <a:ext cx="3840480" cy="2286000"/>
          </a:xfrm>
          <a:prstGeom prst="roundRect">
            <a:avLst/>
          </a:prstGeom>
          <a:solidFill>
            <a:srgbClr val="4C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CLASSIFICATION PROBLEM</a:t>
            </a:r>
            <a:br/>
            <a:br/>
            <a:r>
              <a:t>Input: 21 customer features</a:t>
            </a:r>
            <a:br/>
            <a:r>
              <a:t>Output: P(Churn)</a:t>
            </a:r>
            <a:br/>
            <a:r>
              <a:t>Target: Binary (Yes/No)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3931920"/>
            <a:ext cx="3840480" cy="2286000"/>
          </a:xfrm>
          <a:prstGeom prst="roundRect">
            <a:avLst/>
          </a:prstGeom>
          <a:solidFill>
            <a:srgbClr val="0F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CCCCCC"/>
                </a:solidFill>
                <a:latin typeface="Calibri"/>
              </a:defRPr>
            </a:pPr>
            <a:r>
              <a:t>BUSINESS OBJECTIVE</a:t>
            </a:r>
            <a:br/>
            <a:br/>
            <a:r>
              <a:t>Identify at-risk customers</a:t>
            </a:r>
            <a:br/>
            <a:r>
              <a:t>BEFORE they leave</a:t>
            </a:r>
            <a:br/>
            <a:br/>
            <a:r>
              <a:t>Prioritize retention spend</a:t>
            </a:r>
            <a:br/>
            <a:r>
              <a:t>by predicted risk tier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E-Commerce Customer Churn Prediction · DS Tools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6537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28E2B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736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"/>
              </a:defRPr>
            </a:pPr>
            <a:r>
              <a:t>Data Understanding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0" cy="54864"/>
          </a:xfrm>
          <a:prstGeom prst="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Dataset: 6,200 e-commerce customers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291840" cy="502920"/>
          </a:xfrm>
          <a:prstGeom prst="roundRect">
            <a:avLst/>
          </a:prstGeom>
          <a:solidFill>
            <a:srgbClr val="4C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Demographic (4)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Calibri"/>
              </a:defRPr>
            </a:pPr>
            <a:r>
              <a:t>Age, Gender, Marital Status,</a:t>
            </a:r>
            <a:br/>
            <a:r>
              <a:t>Preferred Device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291840" cy="502920"/>
          </a:xfrm>
          <a:prstGeom prst="roundRect">
            <a:avLst/>
          </a:prstGeom>
          <a:solidFill>
            <a:srgbClr val="59A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Behavioral (5)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51460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Calibri"/>
              </a:defRPr>
            </a:pPr>
            <a:r>
              <a:t>Num Complaints, Satisfaction,</a:t>
            </a:r>
            <a:br/>
            <a:r>
              <a:t>Days Since Order, Coupons, Products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20240"/>
            <a:ext cx="3291840" cy="502920"/>
          </a:xfrm>
          <a:prstGeom prst="round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Financial (4)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80" y="251460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Calibri"/>
              </a:defRPr>
            </a:pPr>
            <a:r>
              <a:t>Monthly Charges, Total Charges,</a:t>
            </a:r>
            <a:br/>
            <a:r>
              <a:t>Cashback Amount, Contract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94760"/>
            <a:ext cx="3291840" cy="502920"/>
          </a:xfrm>
          <a:prstGeom prst="roundRect">
            <a:avLst/>
          </a:prstGeom>
          <a:solidFill>
            <a:srgbClr val="E15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Service (4)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38912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Calibri"/>
              </a:defRPr>
            </a:pPr>
            <a:r>
              <a:t>Internet Service, Online Security,</a:t>
            </a:r>
            <a:br/>
            <a:r>
              <a:t>Tech Support, Payment Method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3794760"/>
            <a:ext cx="3291840" cy="502920"/>
          </a:xfrm>
          <a:prstGeom prst="roundRect">
            <a:avLst/>
          </a:prstGeom>
          <a:solidFill>
            <a:srgbClr val="76B7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Spatial (1)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438912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Calibri"/>
              </a:defRPr>
            </a:pPr>
            <a:r>
              <a:t>Warehouse to Home (km)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3794760"/>
            <a:ext cx="3291840" cy="502920"/>
          </a:xfrm>
          <a:prstGeom prst="roundRect">
            <a:avLst/>
          </a:prstGeom>
          <a:solidFill>
            <a:srgbClr val="AF7A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Target (1)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438912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Calibri"/>
              </a:defRPr>
            </a:pPr>
            <a:r>
              <a:t>Churn: Yes (30.5%)</a:t>
            </a:r>
            <a:br/>
            <a:r>
              <a:t>           No (69.5%)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760720"/>
            <a:ext cx="10698480" cy="640080"/>
          </a:xfrm>
          <a:prstGeom prst="round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855C0C"/>
                </a:solidFill>
                <a:latin typeface="Calibri"/>
              </a:defRPr>
            </a:pPr>
            <a:r>
              <a:t>9 columns have missing values (≈1,100 cells, ~1.4% of data) — cleaned via median + mode imputation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E-Commerce Customer Churn Prediction · DS Tools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6537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28E2B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736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"/>
              </a:defRPr>
            </a:pPr>
            <a:r>
              <a:t>Data Investigation — Key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0" cy="54864"/>
          </a:xfrm>
          <a:prstGeom prst="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651760" cy="502920"/>
          </a:xfrm>
          <a:prstGeom prst="roundRect">
            <a:avLst/>
          </a:prstGeom>
          <a:solidFill>
            <a:srgbClr val="E15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Contract 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Strongest predictor.</a:t>
            </a:r>
            <a:br/>
            <a:r>
              <a:t>Month-to-Month: ~45% churn</a:t>
            </a:r>
            <a:br/>
            <a:r>
              <a:t>Two Year: ~15% churn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59" y="3383280"/>
            <a:ext cx="2103120" cy="457200"/>
          </a:xfrm>
          <a:prstGeom prst="roundRect">
            <a:avLst/>
          </a:prstGeom>
          <a:solidFill>
            <a:srgbClr val="ECE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E15759"/>
                </a:solidFill>
                <a:latin typeface="Calibri"/>
              </a:defRPr>
            </a:pPr>
            <a:r>
              <a:t>3x difference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371600"/>
            <a:ext cx="2651760" cy="502920"/>
          </a:xfrm>
          <a:prstGeom prst="roundRect">
            <a:avLst/>
          </a:prstGeom>
          <a:solidFill>
            <a:srgbClr val="4C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Tenure Effect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96596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Strong protective factor.</a:t>
            </a:r>
            <a:br/>
            <a:r>
              <a:t>&lt;6 months: ~42% churn</a:t>
            </a:r>
            <a:br/>
            <a:r>
              <a:t>&gt;48 months: ~18% churn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03320" y="3383280"/>
            <a:ext cx="2103120" cy="457200"/>
          </a:xfrm>
          <a:prstGeom prst="roundRect">
            <a:avLst/>
          </a:prstGeom>
          <a:solidFill>
            <a:srgbClr val="ECE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4C78A8"/>
                </a:solidFill>
                <a:latin typeface="Calibri"/>
              </a:defRPr>
            </a:pPr>
            <a:r>
              <a:t>2.3x difference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1371600"/>
            <a:ext cx="2651760" cy="502920"/>
          </a:xfrm>
          <a:prstGeom prst="round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Payment Method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799" y="196596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Electronic Check users</a:t>
            </a:r>
            <a:br/>
            <a:r>
              <a:t>churn at ~40% vs Credit</a:t>
            </a:r>
            <a:br/>
            <a:r>
              <a:t>Card users at ~25%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79" y="3383280"/>
            <a:ext cx="2103120" cy="457200"/>
          </a:xfrm>
          <a:prstGeom prst="roundRect">
            <a:avLst/>
          </a:prstGeom>
          <a:solidFill>
            <a:srgbClr val="ECE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28E2B"/>
                </a:solidFill>
                <a:latin typeface="Calibri"/>
              </a:defRPr>
            </a:pPr>
            <a:r>
              <a:t>1.6x difference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89719" y="1371600"/>
            <a:ext cx="2651760" cy="502920"/>
          </a:xfrm>
          <a:prstGeom prst="roundRect">
            <a:avLst/>
          </a:prstGeom>
          <a:solidFill>
            <a:srgbClr val="59A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Complaints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59" y="196596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3+ complaints doubles</a:t>
            </a:r>
            <a:br/>
            <a:r>
              <a:t>churn rate. Strong dose-</a:t>
            </a:r>
            <a:br/>
            <a:r>
              <a:t>response relationship.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64040" y="3383280"/>
            <a:ext cx="2103120" cy="457200"/>
          </a:xfrm>
          <a:prstGeom prst="roundRect">
            <a:avLst/>
          </a:prstGeom>
          <a:solidFill>
            <a:srgbClr val="ECE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59A14F"/>
                </a:solidFill>
                <a:latin typeface="Calibri"/>
              </a:defRPr>
            </a:pPr>
            <a:r>
              <a:t>2x increase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1148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2D2D"/>
                </a:solidFill>
                <a:latin typeface="Calibri"/>
              </a:defRPr>
            </a:pPr>
            <a:r>
              <a:t>Statistical Methods Used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572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PROC MEANS — Descriptive statistics with skewness/kurtosis analysis</a:t>
            </a:r>
          </a:p>
          <a:p>
            <a:pPr>
              <a:spcAft>
                <a:spcPts val="6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PROC UNIVARIATE — Distribution fitting (Normal, Lognormal, Exponential)</a:t>
            </a:r>
          </a:p>
          <a:p>
            <a:pPr>
              <a:spcAft>
                <a:spcPts val="6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PROC FREQ + Chi-Square — Categorical associations with Cramer's V effect sizes</a:t>
            </a:r>
          </a:p>
          <a:p>
            <a:pPr>
              <a:spcAft>
                <a:spcPts val="6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PROC TTEST — Two-sample comparison of churned vs retained groups</a:t>
            </a:r>
          </a:p>
          <a:p>
            <a:pPr>
              <a:spcAft>
                <a:spcPts val="6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PROC CORR — Pearson correlation matrix with significance testing</a:t>
            </a:r>
          </a:p>
          <a:p>
            <a:pPr>
              <a:spcAft>
                <a:spcPts val="600"/>
              </a:spcAft>
              <a:defRPr sz="1300">
                <a:solidFill>
                  <a:srgbClr val="666666"/>
                </a:solidFill>
                <a:latin typeface="Calibri"/>
              </a:defRPr>
            </a:pPr>
            <a:r>
              <a:t>PROC TABULATE — Multi-dimensional cross-tabulations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E-Commerce Customer Churn Prediction · DS Tools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6537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28E2B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736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"/>
              </a:defRPr>
            </a:pPr>
            <a:r>
              <a:t>Data Cleaning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0" cy="54864"/>
          </a:xfrm>
          <a:prstGeom prst="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6858000" cy="457200"/>
          </a:xfrm>
          <a:prstGeom prst="roundRect">
            <a:avLst/>
          </a:prstGeom>
          <a:solidFill>
            <a:srgbClr val="4C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Missing Values Handled (9 columns, ≈1,100 cells)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6675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Age (180 missing, 2.9%) → Median imputation (robust to right-skew)</a:t>
            </a:r>
          </a:p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Total_Charges (200, 3.2%) → Median imputation (contains outliers)</a:t>
            </a:r>
          </a:p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Satisfaction_Score (150, 2.4%) → Median (ordinal, median preserves rank)</a:t>
            </a:r>
          </a:p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Online_Security / Tech_Support → Mode imputation ('No' = most frequent)</a:t>
            </a:r>
          </a:p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Monthly_Charges, Warehouse_KM, Days_Since_Order, Cashback → Median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6858000" cy="457200"/>
          </a:xfrm>
          <a:prstGeom prst="round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Outlier Treatment (IQR Method)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480560"/>
            <a:ext cx="6675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IQR fences computed: Q3 + 1.5*IQR for each variable</a:t>
            </a:r>
          </a:p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Num_Complaints: Capped at IQR upper fence (extreme values)</a:t>
            </a:r>
          </a:p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Warehouse_To_Home_KM: Capped at IQR upper fence</a:t>
            </a:r>
          </a:p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Days_Since_Last_Order: Business rule cap at 365 days</a:t>
            </a:r>
          </a:p>
          <a:p>
            <a:pPr>
              <a:spcAft>
                <a:spcPts val="4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Total_Charges &lt; 0: Recalculated (data entry error fix)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474720" cy="2286000"/>
          </a:xfrm>
          <a:prstGeom prst="roundRect">
            <a:avLst/>
          </a:prstGeom>
          <a:solidFill>
            <a:srgbClr val="FD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E15759"/>
                </a:solidFill>
                <a:latin typeface="Calibri"/>
              </a:defRPr>
            </a:pPr>
            <a:r>
              <a:t>BEFORE</a:t>
            </a:r>
            <a:br/>
            <a:br/>
            <a:r>
              <a:t>1,100 missing cells</a:t>
            </a:r>
            <a:br/>
            <a:r>
              <a:t>Outliers in 3 columns</a:t>
            </a:r>
            <a:br/>
            <a:r>
              <a:t>Negative Total_Charges</a:t>
            </a:r>
            <a:br/>
            <a:r>
              <a:t>Inconsistent casing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931920"/>
            <a:ext cx="3474720" cy="2286000"/>
          </a:xfrm>
          <a:prstGeom prst="roundRect">
            <a:avLst/>
          </a:prstGeom>
          <a:solidFill>
            <a:srgbClr val="E0F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59A14F"/>
                </a:solidFill>
                <a:latin typeface="Calibri"/>
              </a:defRPr>
            </a:pPr>
            <a:r>
              <a:t>AFTER</a:t>
            </a:r>
            <a:br/>
            <a:br/>
            <a:r>
              <a:t>0 missing cells</a:t>
            </a:r>
            <a:br/>
            <a:r>
              <a:t>Outliers capped (IQR)</a:t>
            </a:r>
            <a:br/>
            <a:r>
              <a:t>All values valid</a:t>
            </a:r>
            <a:br/>
            <a:r>
              <a:t>Consistent formatting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E-Commerce Customer Churn Prediction · DS Tools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6537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28E2B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736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"/>
              </a:defRPr>
            </a:pPr>
            <a:r>
              <a:t>Feature Engineering — 8 New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0" cy="54864"/>
          </a:xfrm>
          <a:prstGeom prst="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28600" cy="960120"/>
          </a:xfrm>
          <a:prstGeom prst="roundRect">
            <a:avLst/>
          </a:prstGeom>
          <a:solidFill>
            <a:srgbClr val="4C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Avg Charge/Month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C78A8"/>
                </a:solidFill>
                <a:latin typeface="Calibri"/>
              </a:defRPr>
            </a:pPr>
            <a:r>
              <a:t>Formula: Total / Tenure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Detects plan changes over time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59" y="1371600"/>
            <a:ext cx="228600" cy="960120"/>
          </a:xfrm>
          <a:prstGeom prst="roundRect">
            <a:avLst/>
          </a:prstGeom>
          <a:solidFill>
            <a:srgbClr val="4C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371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Charge Deviation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6916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C78A8"/>
                </a:solidFill>
                <a:latin typeface="Calibri"/>
              </a:defRPr>
            </a:pPr>
            <a:r>
              <a:t>Formula: Current - Historical Avg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9659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Price shock / downgrade signal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560320"/>
            <a:ext cx="228600" cy="960120"/>
          </a:xfrm>
          <a:prstGeom prst="roundRect">
            <a:avLst/>
          </a:prstGeom>
          <a:solidFill>
            <a:srgbClr val="59A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5603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Tenure Group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8803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C78A8"/>
                </a:solidFill>
                <a:latin typeface="Calibri"/>
              </a:defRPr>
            </a:pPr>
            <a:r>
              <a:t>Formula: 5-level lifecycle bin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154679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New/Growing/Mature/Est./Loyal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59" y="2560320"/>
            <a:ext cx="228600" cy="960120"/>
          </a:xfrm>
          <a:prstGeom prst="roundRect">
            <a:avLst/>
          </a:prstGeom>
          <a:solidFill>
            <a:srgbClr val="59A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25603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Complaint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8803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C78A8"/>
                </a:solidFill>
                <a:latin typeface="Calibri"/>
              </a:defRPr>
            </a:pPr>
            <a:r>
              <a:t>Formula: Complaints / Tenure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154679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Normalized frustration metric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749039"/>
            <a:ext cx="228600" cy="960120"/>
          </a:xfrm>
          <a:prstGeom prst="round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74903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Engagement Score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069079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C78A8"/>
                </a:solidFill>
                <a:latin typeface="Calibri"/>
              </a:defRPr>
            </a:pPr>
            <a:r>
              <a:t>Formula: Composite (5 inputs)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3434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Satisfaction + usage + recency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3749039"/>
            <a:ext cx="228600" cy="960120"/>
          </a:xfrm>
          <a:prstGeom prst="round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374903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High Value Flag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4069079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C78A8"/>
                </a:solidFill>
                <a:latin typeface="Calibri"/>
              </a:defRPr>
            </a:pPr>
            <a:r>
              <a:t>Formula: Charges&gt;68 &amp; Tenure&gt;24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3434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Priority retention targets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937760"/>
            <a:ext cx="228600" cy="960120"/>
          </a:xfrm>
          <a:prstGeom prst="roundRect">
            <a:avLst/>
          </a:prstGeom>
          <a:solidFill>
            <a:srgbClr val="E15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937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Digital Engaged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2578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C78A8"/>
                </a:solidFill>
                <a:latin typeface="Calibri"/>
              </a:defRPr>
            </a:pPr>
            <a:r>
              <a:t>Formula: Digital pay + Security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532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Platform investment = stickier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59" y="4937760"/>
            <a:ext cx="228600" cy="960120"/>
          </a:xfrm>
          <a:prstGeom prst="roundRect">
            <a:avLst/>
          </a:prstGeom>
          <a:solidFill>
            <a:srgbClr val="E15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4937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Contract x Complaints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52578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C78A8"/>
                </a:solidFill>
                <a:latin typeface="Calibri"/>
              </a:defRPr>
            </a:pPr>
            <a:r>
              <a:t>Formula: Interaction term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5532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M2M complaint = urgent; 2Yr = less 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6035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All features validated with PROC TTEST — significant difference between churned/retained groups (p &lt; 0.05)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E-Commerce Customer Churn Prediction · DS Tools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0" y="6537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28E2B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736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"/>
              </a:defRPr>
            </a:pPr>
            <a:r>
              <a:t>Model Building — Two Models Compared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0" cy="54864"/>
          </a:xfrm>
          <a:prstGeom prst="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303520" cy="548640"/>
          </a:xfrm>
          <a:prstGeom prst="roundRect">
            <a:avLst/>
          </a:prstGeom>
          <a:solidFill>
            <a:srgbClr val="4C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MODEL 1: Logistic Regression (Primary)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PROC LOGISTIC with DESCENDING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Stepwise feature selection (SLE=0.05, SLS=0.05)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Reference coding for categorical variables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Hosmer-Lemeshow goodness-of-fit test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ROC curve + Odds Ratio plots auto-generated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Two thresholds tested: 0.5 (standard) + 0.4 (recall-optimized)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Model stored with STORE statement for reuse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371600"/>
            <a:ext cx="5303520" cy="548640"/>
          </a:xfrm>
          <a:prstGeom prst="roundRect">
            <a:avLst/>
          </a:prstGeom>
          <a:solidFill>
            <a:srgbClr val="59A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MODEL 2: Decision Tree (Secondary)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PROC HPSPLIT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Entropy-based splitting criterion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Cost-complexity pruning (avoids overfitting)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Automatic variable importance ranking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Visual tree diagram generated</a:t>
            </a:r>
          </a:p>
          <a:p>
            <a:pPr>
              <a:spcAft>
                <a:spcPts val="3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Both models scored on same test set for fair comparison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572000"/>
            <a:ext cx="10698480" cy="548640"/>
          </a:xfrm>
          <a:prstGeom prst="roundRect">
            <a:avLst/>
          </a:prstGeom>
          <a:solidFill>
            <a:srgbClr val="ECE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Train/Test Split: 70/30 stratified by Churn (PROC SURVEYSELECT with STRATA) — preserves class balance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492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Evaluation Metrics (computed via custom SAS macro)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806440"/>
            <a:ext cx="2011680" cy="640080"/>
          </a:xfrm>
          <a:prstGeom prst="roundRect">
            <a:avLst/>
          </a:prstGeom>
          <a:solidFill>
            <a:srgbClr val="4C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Accuracy</a:t>
            </a:r>
            <a:br/>
            <a:r>
              <a:t>Overall correctness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5806440"/>
            <a:ext cx="2011680" cy="640080"/>
          </a:xfrm>
          <a:prstGeom prst="roundRect">
            <a:avLst/>
          </a:prstGeom>
          <a:solidFill>
            <a:srgbClr val="59A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Precision</a:t>
            </a:r>
            <a:br/>
            <a:r>
              <a:t>Of predicted churners,</a:t>
            </a:r>
            <a:br/>
            <a:r>
              <a:t>how many actually churned?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5806440"/>
            <a:ext cx="2011680" cy="640080"/>
          </a:xfrm>
          <a:prstGeom prst="round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Recall</a:t>
            </a:r>
            <a:br/>
            <a:r>
              <a:t>Of actual churners,</a:t>
            </a:r>
            <a:br/>
            <a:r>
              <a:t>how many did we catch?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5806440"/>
            <a:ext cx="2011680" cy="640080"/>
          </a:xfrm>
          <a:prstGeom prst="roundRect">
            <a:avLst/>
          </a:prstGeom>
          <a:solidFill>
            <a:srgbClr val="E15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F1 Score</a:t>
            </a:r>
            <a:br/>
            <a:r>
              <a:t>Harmonic mean of</a:t>
            </a:r>
            <a:br/>
            <a:r>
              <a:t>Precision and 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92640" y="5806440"/>
            <a:ext cx="2011680" cy="640080"/>
          </a:xfrm>
          <a:prstGeom prst="roundRect">
            <a:avLst/>
          </a:prstGeom>
          <a:solidFill>
            <a:srgbClr val="76B7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Specificity</a:t>
            </a:r>
            <a:br/>
            <a:r>
              <a:t>True negative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E-Commerce Customer Churn Prediction · DS Tools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6537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28E2B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736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"/>
              </a:defRPr>
            </a:pPr>
            <a:r>
              <a:t>Model Explanation — What Drives Churn?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0" cy="54864"/>
          </a:xfrm>
          <a:prstGeom prst="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Top Predictors (from Logistic Regression)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457200" cy="457200"/>
          </a:xfrm>
          <a:prstGeom prst="roundRect">
            <a:avLst/>
          </a:prstGeom>
          <a:solidFill>
            <a:srgbClr val="E15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Contract 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8288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Month-to-Month → 3-4x higher odds vs Two Year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68880"/>
            <a:ext cx="457200" cy="457200"/>
          </a:xfrm>
          <a:prstGeom prst="roundRect">
            <a:avLst/>
          </a:prstGeom>
          <a:solidFill>
            <a:srgbClr val="4C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468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Tenure Months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4688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Each month reduces churn odds by ~2-3%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108960"/>
            <a:ext cx="457200" cy="457200"/>
          </a:xfrm>
          <a:prstGeom prst="round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1089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Num Complaints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108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Each complaint increases odds by ~15-20%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749039"/>
            <a:ext cx="457200" cy="457200"/>
          </a:xfrm>
          <a:prstGeom prst="roundRect">
            <a:avLst/>
          </a:prstGeom>
          <a:solidFill>
            <a:srgbClr val="59A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7490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Payment 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749039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Electronic Check → ~1.5x higher odds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389120"/>
            <a:ext cx="457200" cy="457200"/>
          </a:xfrm>
          <a:prstGeom prst="roundRect">
            <a:avLst/>
          </a:prstGeom>
          <a:solidFill>
            <a:srgbClr val="4C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89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Engagement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43891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Higher composite score = significantly lower churn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029200"/>
            <a:ext cx="457200" cy="457200"/>
          </a:xfrm>
          <a:prstGeom prst="roundRect">
            <a:avLst/>
          </a:prstGeom>
          <a:solidFill>
            <a:srgbClr val="E15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029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Online Security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50292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No security → higher churn probability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1280160"/>
            <a:ext cx="3474720" cy="2743200"/>
          </a:xfrm>
          <a:prstGeom prst="roundRect">
            <a:avLst/>
          </a:prstGeom>
          <a:solidFill>
            <a:srgbClr val="0F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MODEL CALIBRATION</a:t>
            </a:r>
            <a:br/>
            <a:br/>
            <a:r>
              <a:t>Predictions grouped into</a:t>
            </a:r>
            <a:br/>
            <a:r>
              <a:t>deciles and compared</a:t>
            </a:r>
            <a:br/>
            <a:r>
              <a:t>against actual churn rate.</a:t>
            </a:r>
            <a:br/>
            <a:br/>
            <a:r>
              <a:t>Points near the diagonal</a:t>
            </a:r>
            <a:br/>
            <a:r>
              <a:t>= well-calibrated model</a:t>
            </a:r>
            <a:br/>
            <a:br/>
            <a:r>
              <a:t>Our model tracks closely</a:t>
            </a:r>
            <a:br/>
            <a:r>
              <a:t>across all probability ranges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4297680"/>
            <a:ext cx="3474720" cy="1645920"/>
          </a:xfrm>
          <a:prstGeom prst="roundRect">
            <a:avLst/>
          </a:prstGeom>
          <a:solidFill>
            <a:srgbClr val="ECE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D2D2D"/>
                </a:solidFill>
                <a:latin typeface="Calibri"/>
              </a:defRPr>
            </a:pPr>
            <a:r>
              <a:t>INTERACTION INSIGHT</a:t>
            </a:r>
            <a:br/>
            <a:br/>
            <a:r>
              <a:t>A complaint from a M2M</a:t>
            </a:r>
            <a:br/>
            <a:r>
              <a:t>customer is 2x more urgent</a:t>
            </a:r>
            <a:br/>
            <a:r>
              <a:t>than from a 2-Year customer.</a:t>
            </a:r>
            <a:br/>
            <a:br/>
            <a:r>
              <a:t>The Contract x Complaint</a:t>
            </a:r>
            <a:br/>
            <a:r>
              <a:t>interaction feature captures this.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E-Commerce Customer Churn Prediction · DS Tools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6537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28E2B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736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"/>
              </a:defRPr>
            </a:pPr>
            <a:r>
              <a:t>Business Application — Making It Useful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0" cy="54864"/>
          </a:xfrm>
          <a:prstGeom prst="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651760" cy="457200"/>
          </a:xfrm>
          <a:prstGeom prst="roundRect">
            <a:avLst/>
          </a:prstGeom>
          <a:solidFill>
            <a:srgbClr val="E15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&gt;70% prob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Personal outreach +</a:t>
            </a:r>
            <a:br/>
            <a:r>
              <a:t>special offer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371600"/>
            <a:ext cx="2651760" cy="457200"/>
          </a:xfrm>
          <a:prstGeom prst="round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9202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50-70% prob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2860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Email campaign +</a:t>
            </a:r>
            <a:br/>
            <a:r>
              <a:t>loyalty discount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1371600"/>
            <a:ext cx="2651760" cy="457200"/>
          </a:xfrm>
          <a:prstGeom prst="roundRect">
            <a:avLst/>
          </a:prstGeom>
          <a:solidFill>
            <a:srgbClr val="EDC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799" y="19202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30-50% prob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799" y="22860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Engagement program +</a:t>
            </a:r>
            <a:br/>
            <a:r>
              <a:t>recommendations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89719" y="1371600"/>
            <a:ext cx="2651760" cy="457200"/>
          </a:xfrm>
          <a:prstGeom prst="roundRect">
            <a:avLst/>
          </a:prstGeom>
          <a:solidFill>
            <a:srgbClr val="59A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59" y="19202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&lt;30% prob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59" y="22860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Standard</a:t>
            </a:r>
            <a:br/>
            <a:r>
              <a:t>nurture flow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200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Actionable Recommendations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49039"/>
            <a:ext cx="109728" cy="365760"/>
          </a:xfrm>
          <a:prstGeom prst="round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74903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Contract Incentives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749039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Calibri"/>
              </a:defRPr>
            </a:pPr>
            <a:r>
              <a:t>Offer 15% discount for M2M → Annual upgrade. Reduces churn odds by 3-4x.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251959"/>
            <a:ext cx="109728" cy="365760"/>
          </a:xfrm>
          <a:prstGeom prst="round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25195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Complaint Fast-Track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4251959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Calibri"/>
              </a:defRPr>
            </a:pPr>
            <a:r>
              <a:t>Priority resolution for high-risk customers. Each resolved complaint = ~18% lower churn.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754879"/>
            <a:ext cx="109728" cy="365760"/>
          </a:xfrm>
          <a:prstGeom prst="round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75487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Payment Nudging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4754879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Calibri"/>
              </a:defRPr>
            </a:pPr>
            <a:r>
              <a:t>Incentivize Electronic Check → Credit Card switch with cashback bonus.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5257800"/>
            <a:ext cx="109728" cy="365760"/>
          </a:xfrm>
          <a:prstGeom prst="round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257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Engagement Programs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5257800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Calibri"/>
              </a:defRPr>
            </a:pPr>
            <a:r>
              <a:t>Target low-Engagement_Score customers with product recs + coupons.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760720"/>
            <a:ext cx="109728" cy="365760"/>
          </a:xfrm>
          <a:prstGeom prst="round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5760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Revenue Protection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0" y="5760720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Calibri"/>
              </a:defRPr>
            </a:pPr>
            <a:r>
              <a:t>Monthly revenue-at-risk dashboard by tier. Focus retention budget on Critical tier.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6355080"/>
            <a:ext cx="10698480" cy="292608"/>
          </a:xfrm>
          <a:prstGeom prst="roundRect">
            <a:avLst/>
          </a:prstGeom>
          <a:solidFill>
            <a:srgbClr val="E0F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59A14F"/>
                </a:solidFill>
                <a:latin typeface="Calibri"/>
              </a:defRPr>
            </a:pPr>
            <a:r>
              <a:t>If we retain just 10% of Critical-tier customers through targeted intervention, the model pays for itself many times over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E-Commerce Customer Churn Prediction · DS Tools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6537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28E2B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736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"/>
              </a:defRPr>
            </a:pPr>
            <a:r>
              <a:t>Visualizations — 16+ Charts Generated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0" cy="54864"/>
          </a:xfrm>
          <a:prstGeom prst="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2651760" cy="457200"/>
          </a:xfrm>
          <a:prstGeom prst="roundRect">
            <a:avLst/>
          </a:prstGeom>
          <a:solidFill>
            <a:srgbClr val="4C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Exploration (6)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  <a:latin typeface="Calibri"/>
              </a:defRPr>
            </a:pPr>
            <a:r>
              <a:t>1. Churn distribution bar chart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  <a:latin typeface="Calibri"/>
              </a:defRPr>
            </a:pPr>
            <a:r>
              <a:t>2. Age distribution by churn (histogram + KDE)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  <a:latin typeface="Calibri"/>
              </a:defRPr>
            </a:pPr>
            <a:r>
              <a:t>3. Monthly charges by contract (grouped box plot)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  <a:latin typeface="Calibri"/>
              </a:defRPr>
            </a:pPr>
            <a:r>
              <a:t>4. Multivariate scatter matrix with prediction ellipses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  <a:latin typeface="Calibri"/>
              </a:defRPr>
            </a:pPr>
            <a:r>
              <a:t>5. Tenure density overlay by churn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  <a:latin typeface="Calibri"/>
              </a:defRPr>
            </a:pPr>
            <a:r>
              <a:t>6. Complaints vs satisfaction scatter (jittered)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371600"/>
            <a:ext cx="2651760" cy="457200"/>
          </a:xfrm>
          <a:prstGeom prst="roundRect">
            <a:avLst/>
          </a:prstGeom>
          <a:solidFill>
            <a:srgbClr val="59A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Cleaning (3)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192024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  <a:latin typeface="Calibri"/>
              </a:defRPr>
            </a:pPr>
            <a:r>
              <a:t>7a. Age distribution BEFORE cleaning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  <a:latin typeface="Calibri"/>
              </a:defRPr>
            </a:pPr>
            <a:r>
              <a:t>7b. Age distribution AFTER cleaning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  <a:latin typeface="Calibri"/>
              </a:defRPr>
            </a:pPr>
            <a:r>
              <a:t>8. Complaint outlier box plot with IQR fence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2651760" cy="457200"/>
          </a:xfrm>
          <a:prstGeom prst="round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Features (3)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59" y="192024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  <a:latin typeface="Calibri"/>
              </a:defRPr>
            </a:pPr>
            <a:r>
              <a:t>9. Engagement score by churn (box plot)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  <a:latin typeface="Calibri"/>
              </a:defRPr>
            </a:pPr>
            <a:r>
              <a:t>10. Churn rate by tenure lifecycle (clustered bar)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  <a:latin typeface="Calibri"/>
              </a:defRPr>
            </a:pPr>
            <a:r>
              <a:t>11. Contract-complaint risk density overlay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98280" y="1371600"/>
            <a:ext cx="2651760" cy="457200"/>
          </a:xfrm>
          <a:prstGeom prst="roundRect">
            <a:avLst/>
          </a:prstGeom>
          <a:solidFill>
            <a:srgbClr val="E15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Modeling (5+)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9719" y="192024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  <a:latin typeface="Calibri"/>
              </a:defRPr>
            </a:pPr>
            <a:r>
              <a:t>12. Predicted probability distribution (panel)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  <a:latin typeface="Calibri"/>
              </a:defRPr>
            </a:pPr>
            <a:r>
              <a:t>13. Model calibration plot (pred vs actual)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  <a:latin typeface="Calibri"/>
              </a:defRPr>
            </a:pPr>
            <a:r>
              <a:t>14. Churn rate ladder by risk factors (horizontal bar)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  <a:latin typeface="Calibri"/>
              </a:defRPr>
            </a:pPr>
            <a:r>
              <a:t>15. Risk tier distribution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  <a:latin typeface="Calibri"/>
              </a:defRPr>
            </a:pPr>
            <a:r>
              <a:t>16. Revenue at risk by tier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  <a:latin typeface="Calibri"/>
              </a:defRPr>
            </a:pPr>
            <a:r>
              <a:t>+ ROC curve, odds ratio, decision tree (auto-generated)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E-Commerce Customer Churn Prediction · DS Tools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6537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28E2B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736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D2D2D"/>
                </a:solidFill>
                <a:latin typeface="Calibri"/>
              </a:defRPr>
            </a:pPr>
            <a:r>
              <a:t>SAS Procedures &amp; Techniques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0" cy="54864"/>
          </a:xfrm>
          <a:prstGeom prst="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2651760" cy="502920"/>
          </a:xfrm>
          <a:prstGeom prst="roundRect">
            <a:avLst/>
          </a:prstGeom>
          <a:solidFill>
            <a:srgbClr val="4C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Data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2468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PROC IMPORT — CSV loading</a:t>
            </a:r>
          </a:p>
          <a:p>
            <a:pPr>
              <a:spcAft>
                <a:spcPts val="4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PROC CONTENTS — Metadata</a:t>
            </a:r>
          </a:p>
          <a:p>
            <a:pPr>
              <a:spcAft>
                <a:spcPts val="4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PROC PRINT — Data preview</a:t>
            </a:r>
          </a:p>
          <a:p>
            <a:pPr>
              <a:spcAft>
                <a:spcPts val="4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PROC SORT — Ordering</a:t>
            </a:r>
          </a:p>
          <a:p>
            <a:pPr>
              <a:spcAft>
                <a:spcPts val="4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PROC EXPORT — Output CSV</a:t>
            </a:r>
          </a:p>
          <a:p>
            <a:pPr>
              <a:spcAft>
                <a:spcPts val="4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PROC FORMAT — Custom formats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371600"/>
            <a:ext cx="2651760" cy="502920"/>
          </a:xfrm>
          <a:prstGeom prst="roundRect">
            <a:avLst/>
          </a:prstGeom>
          <a:solidFill>
            <a:srgbClr val="59A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Statistical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011680"/>
            <a:ext cx="2468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PROC MEANS — Descriptive stats</a:t>
            </a:r>
          </a:p>
          <a:p>
            <a:pPr>
              <a:spcAft>
                <a:spcPts val="4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PROC UNIVARIATE — Distribution analysis</a:t>
            </a:r>
          </a:p>
          <a:p>
            <a:pPr>
              <a:spcAft>
                <a:spcPts val="4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PROC FREQ — Frequencies + Chi-Square</a:t>
            </a:r>
          </a:p>
          <a:p>
            <a:pPr>
              <a:spcAft>
                <a:spcPts val="4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PROC CORR — Correlation matrix</a:t>
            </a:r>
          </a:p>
          <a:p>
            <a:pPr>
              <a:spcAft>
                <a:spcPts val="4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PROC TTEST — Group comparisons</a:t>
            </a:r>
          </a:p>
          <a:p>
            <a:pPr>
              <a:spcAft>
                <a:spcPts val="4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PROC TABULATE — Cross-tabulations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2651760" cy="502920"/>
          </a:xfrm>
          <a:prstGeom prst="round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Modeling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011680"/>
            <a:ext cx="2468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PROC LOGISTIC — Logistic regression</a:t>
            </a:r>
          </a:p>
          <a:p>
            <a:pPr>
              <a:spcAft>
                <a:spcPts val="4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PROC HPSPLIT — Decision tree</a:t>
            </a:r>
          </a:p>
          <a:p>
            <a:pPr>
              <a:spcAft>
                <a:spcPts val="4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PROC REG — Linear regression</a:t>
            </a:r>
          </a:p>
          <a:p>
            <a:pPr>
              <a:spcAft>
                <a:spcPts val="4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PROC SURVEYSELECT — Stratified split</a:t>
            </a:r>
          </a:p>
          <a:p>
            <a:pPr>
              <a:spcAft>
                <a:spcPts val="4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PROC STDIZE — Median imputation</a:t>
            </a:r>
          </a:p>
          <a:p>
            <a:pPr>
              <a:spcAft>
                <a:spcPts val="4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PROC RANK — Decile ranking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98280" y="1371600"/>
            <a:ext cx="2651760" cy="502920"/>
          </a:xfrm>
          <a:prstGeom prst="roundRect">
            <a:avLst/>
          </a:prstGeom>
          <a:solidFill>
            <a:srgbClr val="E15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Advanced Techniques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2011680"/>
            <a:ext cx="2468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SAS Macros — Reusable code</a:t>
            </a:r>
          </a:p>
          <a:p>
            <a:pPr>
              <a:spcAft>
                <a:spcPts val="4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%LET — Global parameters</a:t>
            </a:r>
          </a:p>
          <a:p>
            <a:pPr>
              <a:spcAft>
                <a:spcPts val="4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PROC SQL — Complex queries</a:t>
            </a:r>
          </a:p>
          <a:p>
            <a:pPr>
              <a:spcAft>
                <a:spcPts val="4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ODS GRAPHICS — 16+ plots</a:t>
            </a:r>
          </a:p>
          <a:p>
            <a:pPr>
              <a:spcAft>
                <a:spcPts val="4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Interaction terms</a:t>
            </a:r>
          </a:p>
          <a:p>
            <a:pPr>
              <a:spcAft>
                <a:spcPts val="4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Model calibration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66666"/>
                </a:solidFill>
                <a:latin typeface="Calibri"/>
              </a:defRPr>
            </a:pPr>
            <a:r>
              <a:t>Total: 20+ SAS procedures and techniques · 3 custom macros · 1,000+ lines of SAS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E-Commerce Customer Churn Prediction · DS Tools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6537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371600"/>
            <a:ext cx="4114800" cy="4114800"/>
          </a:xfrm>
          <a:prstGeom prst="ellipse">
            <a:avLst/>
          </a:prstGeom>
          <a:solidFill>
            <a:srgbClr val="1B2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28E2B"/>
                </a:solidFill>
                <a:latin typeface="Calibri"/>
              </a:defRPr>
            </a:pPr>
            <a: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Conclusion &amp; Key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1371600" cy="54864"/>
          </a:xfrm>
          <a:prstGeom prst="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2103120"/>
            <a:ext cx="411480" cy="411480"/>
          </a:xfrm>
          <a:prstGeom prst="round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103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Transformed a raw, messy dataset into an actionable churn prediction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97479"/>
            <a:ext cx="411480" cy="411480"/>
          </a:xfrm>
          <a:prstGeom prst="round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97479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Contract type and tenure are the two most powerful churn predictors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91839"/>
            <a:ext cx="411480" cy="411480"/>
          </a:xfrm>
          <a:prstGeom prst="round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291839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Our engineered engagement score significantly improves prediction power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86200"/>
            <a:ext cx="411480" cy="411480"/>
          </a:xfrm>
          <a:prstGeom prst="round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886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Logistic regression provides interpretable probability scores per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480560"/>
            <a:ext cx="411480" cy="411480"/>
          </a:xfrm>
          <a:prstGeom prst="round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480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Risk-tiered action plans enable targeted, cost-effective retention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074920"/>
            <a:ext cx="411480" cy="411480"/>
          </a:xfrm>
          <a:prstGeom prst="roundRect">
            <a:avLst/>
          </a:prstGeom>
          <a:solidFill>
            <a:srgbClr val="F2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074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Estimated ROI: retaining 10% of critical customers justifies the program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852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09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28E2B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CCCCC"/>
                </a:solidFill>
                <a:latin typeface="Calibri"/>
              </a:defRPr>
            </a:pPr>
            <a:r>
              <a:t>E-Commerce Customer Churn Prediction · DS Tools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6537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CCCCCC"/>
                </a:solidFill>
                <a:latin typeface="Calibri"/>
              </a:defRPr>
            </a:pPr>
            <a: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