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E-Commerce 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Calibri"/>
              </a:defRPr>
            </a:pPr>
            <a:r>
              <a:t>Using SAS to Uncover Patterns, Build Models, and Drive Retention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18288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DS Tools Final Project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Faculty of Computers and Data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237744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6,200</a:t>
            </a:r>
            <a:br/>
            <a: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5120640"/>
            <a:ext cx="237744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21 Raw + 8 Engineered</a:t>
            </a:r>
            <a:br/>
            <a: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120640"/>
            <a:ext cx="237744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 (Logistic + Tree)</a:t>
            </a:r>
            <a:br/>
            <a: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120640"/>
            <a:ext cx="237744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16+</a:t>
            </a:r>
            <a:br/>
            <a:r>
              <a:t>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" cy="64008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28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Why churn prediction matters for e-commerce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640080" cy="64008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Data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28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6,200 customers, 21 features, real-world complexity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640080" cy="64008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Data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Statistical exploration, distributions, correlations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97480"/>
            <a:ext cx="640080" cy="64008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Missing values, outliers, inconsistencies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640080" cy="6400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8 new features capturing behavioral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31920"/>
            <a:ext cx="640080" cy="6400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Model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Logistic Regression + Decision Tree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640080" cy="64008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166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Model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532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Odds ratios, feature importance, calibration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66360"/>
            <a:ext cx="640080" cy="64008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166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Business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532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Risk tiers, revenue impact, retention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1.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8A8"/>
                </a:solidFill>
                <a:latin typeface="Calibri"/>
              </a:defRPr>
            </a:pPr>
            <a:r>
              <a:t>Why does customer churn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Acquiring a new customer costs 5-7x more than retaining one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30.5% of our customers churned — significant revenue at risk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Without prediction, retention efforts are reactive and wasteful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Goal: Predict churn probability for every customer, enabling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   proactive, targeted retention campaigns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840480" cy="22860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CLASSIFICATION PROBLEM</a:t>
            </a:r>
            <a:br/>
            <a:br/>
            <a:r>
              <a:t>Input: 21 customer features</a:t>
            </a:r>
            <a:br/>
            <a:r>
              <a:t>Output: P(Churn)</a:t>
            </a:r>
            <a:br/>
            <a:r>
              <a:t>Target: Binary (Yes/No)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1920"/>
            <a:ext cx="384048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BUSINESS OBJECTIVE</a:t>
            </a:r>
            <a:br/>
            <a:br/>
            <a:r>
              <a:t>Identify at-risk customers</a:t>
            </a:r>
            <a:br/>
            <a:r>
              <a:t>BEFORE they leave</a:t>
            </a:r>
            <a:br/>
            <a:br/>
            <a:r>
              <a:t>Prioritize retention spend</a:t>
            </a:r>
            <a:br/>
            <a:r>
              <a:t>by predicted risk 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2. Data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Dataset: 6,200 e-commerce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50292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Demographic 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Age, Gender, Marital Status,</a:t>
            </a:r>
            <a:br/>
            <a:r>
              <a:t>Preferred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50292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Behavioral 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514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Num Complaints, Satisfaction,</a:t>
            </a:r>
            <a:br/>
            <a:r>
              <a:t>Days Since Order, Coupons,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291840" cy="50292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Financial 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514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Monthly Charges, Total Charges,</a:t>
            </a:r>
            <a:br/>
            <a:r>
              <a:t>Cashback Amount,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50292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Service (4)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Internet Service, Online Security,</a:t>
            </a:r>
            <a:br/>
            <a:r>
              <a:t>Tech Support, Payment 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291840" cy="502920"/>
          </a:xfrm>
          <a:prstGeom prst="roundRect">
            <a:avLst/>
          </a:prstGeom>
          <a:solidFill>
            <a:srgbClr val="76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Spatial 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Warehouse to Home (km)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291840" cy="502920"/>
          </a:xfrm>
          <a:prstGeom prst="roundRect">
            <a:avLst/>
          </a:prstGeom>
          <a:solidFill>
            <a:srgbClr val="AF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Target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Churn: Yes (30.5%)</a:t>
            </a:r>
            <a:br/>
            <a:r>
              <a:t>           No (69.5%)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855C0C"/>
                </a:solidFill>
                <a:latin typeface="Calibri"/>
              </a:defRPr>
            </a:pPr>
            <a:r>
              <a:t>9 columns have missing values (total 1,100 missing cells, ~0.8% of data) — cleaned via median imputation + mode imputation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3. Data Investigation —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50292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Contract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Strongest predictor.</a:t>
            </a:r>
            <a:br/>
            <a:r>
              <a:t>Month-to-Month: ~45% churn</a:t>
            </a:r>
            <a:br/>
            <a:r>
              <a:t>Two Year: ~15% churn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383280"/>
            <a:ext cx="210312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15759"/>
                </a:solidFill>
                <a:latin typeface="Calibri"/>
              </a:defRPr>
            </a:pPr>
            <a:r>
              <a:t>3x difference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51760" cy="50292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Tenure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Strong protective factor.</a:t>
            </a:r>
            <a:br/>
            <a:r>
              <a:t>&lt;6 months: ~42% churn</a:t>
            </a:r>
            <a:br/>
            <a:r>
              <a:t>&gt;48 months: ~18% churn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383280"/>
            <a:ext cx="210312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C78A8"/>
                </a:solidFill>
                <a:latin typeface="Calibri"/>
              </a:defRPr>
            </a:pPr>
            <a:r>
              <a:t>2.3x difference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2651760" cy="50292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Payment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Electronic Check users</a:t>
            </a:r>
            <a:br/>
            <a:r>
              <a:t>churn at ~40% vs Credit</a:t>
            </a:r>
            <a:br/>
            <a:r>
              <a:t>Card users at ~25%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79" y="3383280"/>
            <a:ext cx="210312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28E2B"/>
                </a:solidFill>
                <a:latin typeface="Calibri"/>
              </a:defRPr>
            </a:pPr>
            <a:r>
              <a:t>1.6x difference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371600"/>
            <a:ext cx="2651760" cy="50292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3+ complaints doubles</a:t>
            </a:r>
            <a:br/>
            <a:r>
              <a:t>churn rate. Strong dose-</a:t>
            </a:r>
            <a:br/>
            <a:r>
              <a:t>response relationship.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383280"/>
            <a:ext cx="210312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9A14F"/>
                </a:solidFill>
                <a:latin typeface="Calibri"/>
              </a:defRPr>
            </a:pPr>
            <a:r>
              <a:t>2x increase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Statistical Methods Used: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MEANS — Descriptive statistics with skewness/kurtosis analysis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UNIVARIATE — Distribution fitting (Normal, Lognormal, Exponential)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FREQ + Chi-Square — Categorical associations with Cramer's V effect sizes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TTEST — Two-sample comparison of churned vs retained groups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CORR — Pearson correlation matrix with significance testing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PROC TABULATE — Multi-dimensional cross-tabulations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4. 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572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Missing Values Handled (9 columns, 1,100 cells)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Age (180 missing, 2.9%) → Median imputation (robust to right-skew)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Total_Charges (200, 3.2%) → Median imputation (contains outliers)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Satisfaction_Score (150, 2.4%) → Median (ordinal, median preserves rank)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Online_Security / Tech_Support → Mode imputation ('No' = most frequent)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Monthly_Charges, Warehouse_KM, Days_Since_Order, Cashback → Median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6858000" cy="45720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Outlier Treatment (IQR Method)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IQR fences computed: Q3 + 1.5*IQR for each variable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Num_Complaints: Capped at IQR upper fence (extreme values)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Warehouse_To_Home_KM: Capped at IQR upper fence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Days_Since_Last_Order: Business rule cap at 365 days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Total_Charges &lt; 0: Recalculated (data entry error fix)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FD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15759"/>
                </a:solidFill>
                <a:latin typeface="Calibri"/>
              </a:defRPr>
            </a:pPr>
            <a:r>
              <a:t>BEFORE</a:t>
            </a:r>
            <a:br/>
            <a:br/>
            <a:r>
              <a:t>1,100 missing cells</a:t>
            </a:r>
            <a:br/>
            <a:r>
              <a:t>Outliers in 3 columns</a:t>
            </a:r>
            <a:br/>
            <a:r>
              <a:t>Negative Total_Charges</a:t>
            </a:r>
            <a:br/>
            <a:r>
              <a:t>Inconsistent casing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474720" cy="2286000"/>
          </a:xfrm>
          <a:prstGeom prst="roundRect">
            <a:avLst/>
          </a:prstGeom>
          <a:solidFill>
            <a:srgbClr val="E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59A14F"/>
                </a:solidFill>
                <a:latin typeface="Calibri"/>
              </a:defRPr>
            </a:pPr>
            <a:r>
              <a:t>AFTER</a:t>
            </a:r>
            <a:br/>
            <a:br/>
            <a:r>
              <a:t>0 missing cells</a:t>
            </a:r>
            <a:br/>
            <a:r>
              <a:t>Outliers capped (IQR)</a:t>
            </a:r>
            <a:br/>
            <a:r>
              <a:t>All values valid</a:t>
            </a:r>
            <a:br/>
            <a:r>
              <a:t>Consistent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SAS: PROC STDIZE (METHOD=MEDIAN REPONLY) + DATA step logic + PROC MEANS for IQR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5. Feature Engineering — 8 New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28600" cy="100584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Avg Charge/Month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Total / 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Detects plan changes over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228600" cy="100584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Charge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Current - Historical Avg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Price shock / downgrade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228600" cy="100584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Tenure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5-level lifecycle 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New/Growing/Mature/Est./Loyal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606040"/>
            <a:ext cx="228600" cy="100584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Complaint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Complaints / Tenure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Normalized frustration 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228600" cy="100584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Engagement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Composite (5 inputs)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Satisfaction + usage + recency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840480"/>
            <a:ext cx="228600" cy="100584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High Value 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Charges&gt;68 &amp; Tenure&gt;24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Priority retention targets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74920"/>
            <a:ext cx="228600" cy="100584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Digital Engaged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Digital pay +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Platform investment = stickier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5074920"/>
            <a:ext cx="228600" cy="100584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Contract x Complaints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78A8"/>
                </a:solidFill>
                <a:latin typeface="Calibri"/>
              </a:defRPr>
            </a:pPr>
            <a:r>
              <a:t>Formula: Interaction term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M2M complaint = urgent; 2Yr = less 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All features validated with PROC TTEST — statistically significant difference between churned/retained groups (p &lt; 0.05)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6. Model Building — Two Models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4864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MODEL 1: Logistic Regression (Primary)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PROC LOGISTIC with DESCENDING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Stepwise feature selection (SLE=0.05, SLS=0.05)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Reference coding for categorical variables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Hosmer-Lemeshow goodness-of-fit test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ROC curve + Odds Ratio plots auto-generated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Two thresholds tested: 0.5 (standard) + 0.4 (recall-optimized)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Model stored with STORE statement for reuse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4864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MODEL 2: Decision Tree (Secondary)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PROC HPSPLIT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Entropy-based splitting criterion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Cost-complexity pruning (avoids overfitting)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Automatic variable importance ranking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Visual tree diagram generated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Both models scored on same test set for fair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Train/Test Split: 70/30 stratified by Churn (PROC SURVEYSELECT with STRATA) — preserves class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Evaluation Metrics (computed via custom SAS macro):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52160"/>
            <a:ext cx="2011680" cy="82296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  <a:br/>
            <a:r>
              <a:t>Overall correctness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5852160"/>
            <a:ext cx="2011680" cy="82296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  <a:br/>
            <a:r>
              <a:t>Of predicted churners,</a:t>
            </a:r>
            <a:br/>
            <a:r>
              <a:t>how many actually churned?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5852160"/>
            <a:ext cx="2011680" cy="8229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Recall</a:t>
            </a:r>
            <a:br/>
            <a:r>
              <a:t>Of actual churners,</a:t>
            </a:r>
            <a:br/>
            <a:r>
              <a:t>how many did we catch?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5852160"/>
            <a:ext cx="2011680" cy="82296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F1 Score</a:t>
            </a:r>
            <a:br/>
            <a:r>
              <a:t>Harmonic mean of</a:t>
            </a:r>
            <a:br/>
            <a:r>
              <a:t>Precision and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5852160"/>
            <a:ext cx="2011680" cy="822960"/>
          </a:xfrm>
          <a:prstGeom prst="roundRect">
            <a:avLst/>
          </a:prstGeom>
          <a:solidFill>
            <a:srgbClr val="76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Specificity</a:t>
            </a:r>
            <a:br/>
            <a:r>
              <a:t>True negative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7. Model Explanation — What Drives Churn?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Top Predictors (from Logistic Regression):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" cy="45720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Contract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Month-to-Month → 3-4x higher odds vs Two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457200" cy="4572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Tenure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Each month reduces churn odds by ~2-3%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457200" cy="45720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Num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Each complaint increases odds by ~15-20%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457200" cy="45720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Payment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Electronic Check → ~1.5x higher odds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457200" cy="4572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Engagement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Higher composite score = significantly lower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457200" cy="45720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Online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security → higher churn probability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280160"/>
            <a:ext cx="347472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MODEL CALIBRATION</a:t>
            </a:r>
            <a:br/>
            <a:br/>
            <a:r>
              <a:t>Predictions grouped into</a:t>
            </a:r>
            <a:br/>
            <a:r>
              <a:t>deciles and compared</a:t>
            </a:r>
            <a:br/>
            <a:r>
              <a:t>against actual churn rate.</a:t>
            </a:r>
            <a:br/>
            <a:br/>
            <a:r>
              <a:t>Points near the diagonal</a:t>
            </a:r>
            <a:br/>
            <a:r>
              <a:t>= well-calibrated model</a:t>
            </a:r>
            <a:br/>
            <a:br/>
            <a:r>
              <a:t>Our model tracks closely</a:t>
            </a:r>
            <a:br/>
            <a:r>
              <a:t>across all probability ranges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97680"/>
            <a:ext cx="3474720" cy="16459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INTERACTION INSIGHT</a:t>
            </a:r>
            <a:br/>
            <a:br/>
            <a:r>
              <a:t>A complaint from a M2M</a:t>
            </a:r>
            <a:br/>
            <a:r>
              <a:t>customer is 2x more urgent</a:t>
            </a:r>
            <a:br/>
            <a:r>
              <a:t>than from a 2-Year customer.</a:t>
            </a:r>
            <a:br/>
            <a:br/>
            <a:r>
              <a:t>The Contract x Complaint</a:t>
            </a:r>
            <a:br/>
            <a:r>
              <a:t>interaction feature captures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8. Business Application — Making It Useful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45720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&gt;70% prob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Personal outreach +</a:t>
            </a:r>
            <a:br/>
            <a:r>
              <a:t>special offer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51760" cy="45720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50-70% prob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Email campaign +</a:t>
            </a:r>
            <a:br/>
            <a:r>
              <a:t>loyalty discount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2651760" cy="457200"/>
          </a:xfrm>
          <a:prstGeom prst="roundRect">
            <a:avLst/>
          </a:prstGeom>
          <a:solidFill>
            <a:srgbClr val="ED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30-50% prob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Engagement program +</a:t>
            </a:r>
            <a:br/>
            <a:r>
              <a:t>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371600"/>
            <a:ext cx="2651760" cy="45720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&lt;30% prob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Standard</a:t>
            </a:r>
            <a:br/>
            <a:r>
              <a:t>nurture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Actionable Recommendations: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09728" cy="3657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Contract Incentives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4903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Offer 15% discount for M2M → Annual upgrade. Reduces churn odds by 3-4x.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79"/>
            <a:ext cx="109728" cy="3657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Complaint Fast-Track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9767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Priority resolution for high-risk customers. Each resolved complaint = ~18% lower churn.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9728" cy="3657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Payment Nudging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46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Incentivize Electronic Check → Credit Card switch with cashback bonus.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94959"/>
            <a:ext cx="109728" cy="3657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Engagement Programs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39495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Target low-Engagement_Score customers with product recs + coupons.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43600"/>
            <a:ext cx="109728" cy="36576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Revenue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943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Monthly revenue-at-risk dashboard by tier. Focus retention budget on Critical tier.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400800"/>
            <a:ext cx="10698480" cy="274320"/>
          </a:xfrm>
          <a:prstGeom prst="roundRect">
            <a:avLst/>
          </a:prstGeom>
          <a:solidFill>
            <a:srgbClr val="E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9A14F"/>
                </a:solidFill>
                <a:latin typeface="Calibri"/>
              </a:defRPr>
            </a:pPr>
            <a:r>
              <a:t>If we retain just 10% of Critical-tier customers through targeted intervention, the model pays for itself many times 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Visualizations — 16+ Charts Generated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572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Exploration (6)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1. Churn distribution bar chart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2. Age distribution by churn (histogram + KDE)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3. Monthly charges by contract (grouped box plot)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4. Multivariate scatter matrix with prediction ellipses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5. Tenure density overlay by churn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6. Complaints vs satisfaction scatter (jittered)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45720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Cleaning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7a. Age distribution BEFORE cleaning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7b. Age distribution AFTER cleaning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8. Complaint outlier box plot with IQR fence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45720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Features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9. Engagement score by churn (box plot)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10. Churn rate by tenure lifecycle (clustered bar)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11. Contract-complaint risk density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651760" cy="45720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Modeling (5+)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12. Predicted probability distribution (panel)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13. Model calibration plot (pred vs actual)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14. Churn rate ladder by risk factors (horizontal bar)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15. Risk tier distribution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16. Revenue at risk by tier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ROC curve, odds ratio, decision tree (auto-generated)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SAS Procedures &amp;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50292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IMPORT — CSV loading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CONTENTS — Metadata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PRINT — Data preview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SORT — Ordering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EXPORT — Output CSV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FORMAT — Custom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502920"/>
          </a:xfrm>
          <a:prstGeom prst="round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Statistical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MEANS — Descriptive stats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UNIVARIATE — Distribution analysis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FREQ — Frequencies + Chi-Square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CORR — Correlation matrix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TTEST — Group comparisons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TABULATE — Cross-tabulations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50292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LOGISTIC — Logistic regression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HPSPLIT — Decision tree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REG — Linear regression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SURVEYSELECT — Stratified split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STDIZE — Median imputation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RANK — Decile ranking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651760" cy="502920"/>
          </a:xfrm>
          <a:prstGeom prst="round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Advanced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SAS Macros — Reusable code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%LET — Global parameters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PROC SQL — Complex queries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ODS GRAPHICS — 16+ plots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Interaction terms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Model calibration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66666"/>
                </a:solidFill>
                <a:latin typeface="Calibri"/>
              </a:defRPr>
            </a:pPr>
            <a:r>
              <a:t>Total: 20+ SAS procedures and techniques | 3 custom macros | 500+ lines of SAS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We transformed a raw, messy dataset into an actionable churn prediction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Contract type and tenure are the two most powerful churn predictors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Our engagement score (composite feature) significantly improves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logistic regression model provides interpretable probability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Risk-tiered action plans enable targeted, cost-effective 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411480" cy="411480"/>
          </a:xfrm>
          <a:prstGeom prst="round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Estimated ROI: retaining 10% of critical customers justifies the entire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